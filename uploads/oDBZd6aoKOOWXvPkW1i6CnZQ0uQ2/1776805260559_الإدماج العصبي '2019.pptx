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application/vnd.openxmlformats-package.relationships+xml" Extension="rels"/>
  <Default ContentType="application/xml" Extension="xml"/>
  <Default ContentType="image/vnd.ms-photo" Extension="wdp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0" r:id="rId5"/>
    <p:sldId id="264" r:id="rId6"/>
    <p:sldId id="26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90844" autoAdjust="0"/>
  </p:normalViewPr>
  <p:slideViewPr>
    <p:cSldViewPr>
      <p:cViewPr varScale="1">
        <p:scale>
          <a:sx n="62" d="100"/>
          <a:sy n="62" d="100"/>
        </p:scale>
        <p:origin x="36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2" Target="../media/image1.jpe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2.xml.rels><?xml version="1.0" encoding="UTF-8" standalone="yes" ?><Relationships xmlns="http://schemas.openxmlformats.org/package/2006/relationships"><Relationship Id="rId3" Target="../media/image3.jpeg" Type="http://schemas.openxmlformats.org/officeDocument/2006/relationships/image"/><Relationship Id="rId7" Target="../media/image7.png" Type="http://schemas.openxmlformats.org/officeDocument/2006/relationships/image"/><Relationship Id="rId2" Target="../media/image2.jpeg" Type="http://schemas.openxmlformats.org/officeDocument/2006/relationships/image"/><Relationship Id="rId1" Target="../slideLayouts/slideLayout2.xml" Type="http://schemas.openxmlformats.org/officeDocument/2006/relationships/slideLayout"/><Relationship Id="rId6" Target="../media/image6.jpeg" Type="http://schemas.openxmlformats.org/officeDocument/2006/relationships/image"/><Relationship Id="rId5" Target="../media/image5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 ?><Relationships xmlns="http://schemas.openxmlformats.org/package/2006/relationships"><Relationship Id="rId2" Target="../media/image1.jpeg" Type="http://schemas.openxmlformats.org/officeDocument/2006/relationships/image"/><Relationship Id="rId1" Target="../slideLayouts/slideLayout1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hdphoto1.wdp" Type="http://schemas.microsoft.com/office/2007/relationships/hdphoto"/><Relationship Id="rId2" Target="../media/image8.jpeg" Type="http://schemas.openxmlformats.org/officeDocument/2006/relationships/image"/><Relationship Id="rId1" Target="../slideLayouts/slideLayout2.xml" Type="http://schemas.openxmlformats.org/officeDocument/2006/relationships/slideLayout"/><Relationship Id="rId4" Target="../media/image9.png" Type="http://schemas.openxmlformats.org/officeDocument/2006/relationships/image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 ?><Relationships xmlns="http://schemas.openxmlformats.org/package/2006/relationships"><Relationship Id="rId3" Target="../media/image11.jpeg" Type="http://schemas.openxmlformats.org/officeDocument/2006/relationships/image"/><Relationship Id="rId2" Target="../media/image10.png" Type="http://schemas.openxmlformats.org/officeDocument/2006/relationships/image"/><Relationship Id="rId1" Target="../slideLayouts/slideLayout2.xml" Type="http://schemas.openxmlformats.org/officeDocument/2006/relationships/slideLayout"/><Relationship Id="rId4" Target="../media/hdphoto2.wdp" Type="http://schemas.microsoft.com/office/2007/relationships/hdphoto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838" y="1"/>
            <a:ext cx="12288838" cy="541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396663" y="-76200"/>
            <a:ext cx="646112" cy="27400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rot="5400000">
            <a:off x="10693400" y="1477963"/>
            <a:ext cx="21320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b="1" dirty="0">
                <a:cs typeface="Calibri" panose="020F0502020204030204" pitchFamily="34" charset="0"/>
              </a:rPr>
              <a:t>المجال التّعلمي </a:t>
            </a:r>
            <a:endParaRPr lang="en-US" altLang="en-US" b="1" dirty="0"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396663" y="-149225"/>
            <a:ext cx="6746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US" sz="6000" b="1">
                <a:latin typeface="Tahoma" panose="020B0604030504040204" pitchFamily="34" charset="0"/>
              </a:rPr>
              <a:t>4</a:t>
            </a:r>
            <a:endParaRPr lang="en-US" altLang="en-US" sz="6000" b="1">
              <a:latin typeface="Tahoma" panose="020B060403050404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090208" y="96837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b="1" dirty="0">
                <a:solidFill>
                  <a:schemeClr val="bg1"/>
                </a:solidFill>
                <a:cs typeface="Calibri" panose="020F0502020204030204" pitchFamily="34" charset="0"/>
              </a:rPr>
              <a:t>وحدة العضوية </a:t>
            </a:r>
            <a:endParaRPr lang="ar-DZ" altLang="en-US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-96838" y="6419850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>
                <a:solidFill>
                  <a:srgbClr val="000000"/>
                </a:solidFill>
                <a:cs typeface="Calibri" panose="020F0502020204030204" pitchFamily="34" charset="0"/>
              </a:rPr>
              <a:t>2018-2019 </a:t>
            </a:r>
            <a:endParaRPr lang="ar-DZ" altLang="en-US" sz="24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69112" y="5657629"/>
            <a:ext cx="5173663" cy="10541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r" rtl="1" eaLnBrk="1" hangingPunct="1">
              <a:defRPr/>
            </a:pP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الوحدة التعلمية 2 :  التحكّم العصبي</a:t>
            </a:r>
          </a:p>
          <a:p>
            <a:pPr algn="r" rtl="1" eaLnBrk="1" hangingPunct="1">
              <a:defRPr/>
            </a:pP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الحصة التعلمية </a:t>
            </a:r>
            <a:r>
              <a:rPr lang="ar-DZ" sz="2800" b="1" dirty="0" smtClean="0">
                <a:solidFill>
                  <a:schemeClr val="tx1"/>
                </a:solidFill>
                <a:cs typeface="Calibri" pitchFamily="34" charset="0"/>
              </a:rPr>
              <a:t>6 </a:t>
            </a: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:</a:t>
            </a:r>
            <a:endParaRPr lang="en-US" sz="2800" b="1" dirty="0">
              <a:solidFill>
                <a:schemeClr val="tx1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55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27841" y="3106896"/>
            <a:ext cx="2803575" cy="38980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08" y="3412557"/>
            <a:ext cx="4495800" cy="343376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-152400" y="90488"/>
            <a:ext cx="12534900" cy="50323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b="1" kern="0" dirty="0">
              <a:solidFill>
                <a:schemeClr val="bg1"/>
              </a:solidFill>
              <a:latin typeface="Calibri"/>
              <a:cs typeface="Calibri" pitchFamily="34" charset="0"/>
            </a:endParaRPr>
          </a:p>
        </p:txBody>
      </p:sp>
      <p:pic>
        <p:nvPicPr>
          <p:cNvPr id="5" name="Picture 2" descr="E:\علوم الطبيعة والحياة\سنة 1 ج م ع تك\عروض\المجال الأول\pic\man-sprinting.png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4288" y="142875"/>
            <a:ext cx="39846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8941593" y="3546951"/>
            <a:ext cx="3040063" cy="1219200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ysClr val="windowText" lastClr="000000"/>
            </a:solidFill>
            <a:prstDash val="dash"/>
          </a:ln>
          <a:effectLst/>
        </p:spPr>
        <p:txBody>
          <a:bodyPr anchor="ctr"/>
          <a:lstStyle/>
          <a:p>
            <a:pPr algn="ctr" rtl="1">
              <a:defRPr/>
            </a:pPr>
            <a:r>
              <a:rPr lang="ar-DZ" sz="2400" b="1" kern="0" dirty="0">
                <a:solidFill>
                  <a:srgbClr val="000000"/>
                </a:solidFill>
                <a:cs typeface="Calibri" panose="020F0502020204030204" pitchFamily="34" charset="0"/>
              </a:rPr>
              <a:t>ما هي المراكز العصبية التي تضمن التنسيق بين عمل الأعضاء؟ </a:t>
            </a:r>
            <a:endParaRPr lang="en-US" sz="2400" b="1" kern="0" dirty="0">
              <a:solidFill>
                <a:prstClr val="black"/>
              </a:solidFill>
              <a:latin typeface="Calibri"/>
              <a:cs typeface="Calibri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38295" y="5611633"/>
            <a:ext cx="1881187" cy="504825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dash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schemeClr val="bg1"/>
              </a:solidFill>
              <a:latin typeface="Calibri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0709770" y="5611633"/>
            <a:ext cx="1211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>
                <a:latin typeface="Tahoma" panose="020B0604030504040204" pitchFamily="34" charset="0"/>
                <a:cs typeface="Calibri" panose="020F0502020204030204" pitchFamily="34" charset="0"/>
              </a:rPr>
              <a:t>الفرضيات</a:t>
            </a:r>
            <a:endParaRPr lang="en-US" altLang="en-US" sz="2400" b="1">
              <a:latin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612313" y="153988"/>
            <a:ext cx="16144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000" b="1" dirty="0">
                <a:latin typeface="Tahoma" panose="020B0604030504040204" pitchFamily="34" charset="0"/>
                <a:cs typeface="Calibri" panose="020F0502020204030204" pitchFamily="34" charset="0"/>
              </a:rPr>
              <a:t>وضعية الإنطلاق</a:t>
            </a:r>
            <a:endParaRPr lang="en-US" altLang="en-US" sz="2000" b="1" dirty="0">
              <a:latin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3399" y="762001"/>
            <a:ext cx="7931149" cy="6012018"/>
          </a:xfrm>
          <a:prstGeom prst="rect">
            <a:avLst/>
          </a:prstGeom>
          <a:noFill/>
          <a:ln w="28575" cap="flat" cmpd="sng" algn="ctr">
            <a:solidFill>
              <a:schemeClr val="accent2">
                <a:lumMod val="75000"/>
              </a:schemeClr>
            </a:solidFill>
            <a:prstDash val="sysDash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kern="0">
              <a:solidFill>
                <a:prstClr val="white"/>
              </a:solidFill>
              <a:latin typeface="Calibri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8941593" y="721332"/>
            <a:ext cx="325040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تتغير الوتيرة القلبية و الوتيرة التنفسية حسب حاجيات مختلف أعضاء العضوية إلى المغذيات </a:t>
            </a:r>
            <a:r>
              <a:rPr lang="ar-DZ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و</a:t>
            </a:r>
            <a:r>
              <a:rPr lang="en-US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O</a:t>
            </a:r>
            <a:r>
              <a:rPr lang="en-US" altLang="en-US" sz="16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2 </a:t>
            </a:r>
            <a:r>
              <a:rPr lang="ar-DZ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.</a:t>
            </a:r>
            <a:r>
              <a:rPr lang="en-US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ar-DZ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يسمح </a:t>
            </a:r>
            <a:r>
              <a:rPr lang="ar-DZ" altLang="en-US" sz="2400" b="1" dirty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هذا التغير </a:t>
            </a:r>
            <a:r>
              <a:rPr lang="ar-DZ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بالتكي</a:t>
            </a:r>
            <a:r>
              <a:rPr lang="ar-DZ" altLang="en-US" sz="2400" b="1" dirty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ّ</a:t>
            </a:r>
            <a:r>
              <a:rPr lang="ar-DZ" altLang="en-US" sz="2400" b="1" dirty="0" smtClean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ف </a:t>
            </a:r>
            <a:r>
              <a:rPr lang="ar-DZ" altLang="en-US" sz="2400" b="1" dirty="0">
                <a:solidFill>
                  <a:srgbClr val="000000"/>
                </a:solidFill>
                <a:latin typeface="Tahoma" panose="020B0604030504040204" pitchFamily="34" charset="0"/>
                <a:cs typeface="Calibri" panose="020F0502020204030204" pitchFamily="34" charset="0"/>
              </a:rPr>
              <a:t>الوظيفي الذي تتحكم فيه المراكز العصبية.</a:t>
            </a:r>
            <a:endParaRPr lang="en-US" altLang="en-US" sz="2400" b="1" dirty="0">
              <a:solidFill>
                <a:srgbClr val="000000"/>
              </a:solidFill>
              <a:latin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9377471" y="6218549"/>
            <a:ext cx="21931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>
                <a:latin typeface="Tahoma" panose="020B0604030504040204" pitchFamily="34" charset="0"/>
                <a:cs typeface="Calibri" panose="020F0502020204030204" pitchFamily="34" charset="0"/>
              </a:rPr>
              <a:t> </a:t>
            </a:r>
            <a:r>
              <a:rPr lang="ar-DZ" altLang="en-US" sz="2400" b="1" dirty="0" smtClean="0">
                <a:latin typeface="Tahoma" panose="020B0604030504040204" pitchFamily="34" charset="0"/>
                <a:cs typeface="Calibri" panose="020F0502020204030204" pitchFamily="34" charset="0"/>
              </a:rPr>
              <a:t>البصلة </a:t>
            </a:r>
            <a:r>
              <a:rPr lang="ar-DZ" altLang="en-US" sz="2400" b="1" dirty="0">
                <a:latin typeface="Tahoma" panose="020B0604030504040204" pitchFamily="34" charset="0"/>
                <a:cs typeface="Calibri" panose="020F0502020204030204" pitchFamily="34" charset="0"/>
              </a:rPr>
              <a:t>السيسائية.</a:t>
            </a:r>
            <a:endParaRPr lang="en-US" altLang="en-US" sz="2400" b="1" dirty="0">
              <a:latin typeface="Tahoma" panose="020B060403050404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Ellipse 6"/>
          <p:cNvSpPr/>
          <p:nvPr/>
        </p:nvSpPr>
        <p:spPr>
          <a:xfrm>
            <a:off x="11565731" y="3057681"/>
            <a:ext cx="554038" cy="565150"/>
          </a:xfrm>
          <a:prstGeom prst="ellipse">
            <a:avLst/>
          </a:prstGeom>
          <a:solidFill>
            <a:schemeClr val="bg1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DZ" sz="4000" kern="0" dirty="0">
                <a:latin typeface="Calibri"/>
              </a:rPr>
              <a:t>؟</a:t>
            </a:r>
            <a:endParaRPr lang="fr-FR" sz="4000" kern="0" dirty="0">
              <a:latin typeface="Calibri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7535" y="920356"/>
            <a:ext cx="3324225" cy="25059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8000" y="749510"/>
            <a:ext cx="3756548" cy="22016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817" y="3447546"/>
            <a:ext cx="1090315" cy="1090315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>
            <a:off x="5165986" y="5654495"/>
            <a:ext cx="1283892" cy="461963"/>
          </a:xfrm>
          <a:prstGeom prst="rightArrow">
            <a:avLst/>
          </a:prstGeom>
          <a:solidFill>
            <a:schemeClr val="accent6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Up Arrow 21"/>
          <p:cNvSpPr/>
          <p:nvPr/>
        </p:nvSpPr>
        <p:spPr>
          <a:xfrm>
            <a:off x="5669245" y="3141324"/>
            <a:ext cx="1264955" cy="1181784"/>
          </a:xfrm>
          <a:prstGeom prst="leftUpArrow">
            <a:avLst/>
          </a:prstGeom>
          <a:solidFill>
            <a:schemeClr val="accent6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561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/>
      <p:bldP spid="6" grpId="0" animBg="1"/>
      <p:bldP spid="19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838" y="1"/>
            <a:ext cx="12288838" cy="541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396663" y="-76200"/>
            <a:ext cx="646112" cy="27400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 rot="5400000">
            <a:off x="10693400" y="1477963"/>
            <a:ext cx="21320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b="1" dirty="0">
                <a:cs typeface="Calibri" panose="020F0502020204030204" pitchFamily="34" charset="0"/>
              </a:rPr>
              <a:t>المجال التّعلمي </a:t>
            </a:r>
            <a:endParaRPr lang="en-US" altLang="en-US" b="1" dirty="0"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1396663" y="-149225"/>
            <a:ext cx="674687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en-US" sz="6000" b="1">
                <a:latin typeface="Tahoma" panose="020B0604030504040204" pitchFamily="34" charset="0"/>
              </a:rPr>
              <a:t>4</a:t>
            </a:r>
            <a:endParaRPr lang="en-US" altLang="en-US" sz="6000" b="1">
              <a:latin typeface="Tahoma" panose="020B060403050404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090208" y="96837"/>
            <a:ext cx="205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b="1" dirty="0">
                <a:solidFill>
                  <a:schemeClr val="bg1"/>
                </a:solidFill>
                <a:cs typeface="Calibri" panose="020F0502020204030204" pitchFamily="34" charset="0"/>
              </a:rPr>
              <a:t>وحدة العضوية </a:t>
            </a:r>
            <a:endParaRPr lang="ar-DZ" altLang="en-US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-96838" y="6419850"/>
            <a:ext cx="1592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>
                <a:solidFill>
                  <a:srgbClr val="000000"/>
                </a:solidFill>
                <a:cs typeface="Calibri" panose="020F0502020204030204" pitchFamily="34" charset="0"/>
              </a:rPr>
              <a:t>2018-2019 </a:t>
            </a:r>
            <a:endParaRPr lang="ar-DZ" altLang="en-US" sz="24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69112" y="5657629"/>
            <a:ext cx="5173663" cy="10541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r" rtl="1" eaLnBrk="1" hangingPunct="1">
              <a:defRPr/>
            </a:pP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الوحدة التعلمية 2 :  التحكّم العصبي</a:t>
            </a:r>
          </a:p>
          <a:p>
            <a:pPr algn="r" rtl="1" eaLnBrk="1" hangingPunct="1">
              <a:defRPr/>
            </a:pP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الحصة التعلمية </a:t>
            </a:r>
            <a:r>
              <a:rPr lang="ar-DZ" sz="2800" b="1" dirty="0" smtClean="0">
                <a:solidFill>
                  <a:schemeClr val="tx1"/>
                </a:solidFill>
                <a:cs typeface="Calibri" pitchFamily="34" charset="0"/>
              </a:rPr>
              <a:t>5 </a:t>
            </a:r>
            <a:r>
              <a:rPr lang="ar-DZ" sz="2800" b="1" dirty="0">
                <a:solidFill>
                  <a:schemeClr val="tx1"/>
                </a:solidFill>
                <a:cs typeface="Calibri" pitchFamily="34" charset="0"/>
              </a:rPr>
              <a:t>:</a:t>
            </a:r>
            <a:endParaRPr lang="en-US" sz="2800" b="1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43800" y="6127611"/>
            <a:ext cx="2010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800" b="1" dirty="0" smtClean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الإدماج </a:t>
            </a:r>
            <a:r>
              <a:rPr lang="ar-DZ" sz="28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العصبي</a:t>
            </a:r>
            <a:endParaRPr lang="en-US" sz="28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147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8572500" y="1852364"/>
            <a:ext cx="904256" cy="5270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953000" y="757456"/>
            <a:ext cx="7239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تمثل </a:t>
            </a:r>
            <a:r>
              <a:rPr lang="ar-DZ" altLang="en-US" sz="2400" b="1" dirty="0">
                <a:ea typeface="Times New Roman" panose="02020603050405020304" pitchFamily="18" charset="0"/>
                <a:cs typeface="Calibri" panose="020F0502020204030204" pitchFamily="34" charset="0"/>
              </a:rPr>
              <a:t>الوثيقة 1 ص 198 مخطط الادماج العصبي لوظيفة التنفس. </a:t>
            </a:r>
            <a:endParaRPr lang="ar-DZ" altLang="en-US" sz="2400" b="1" dirty="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304800" y="152400"/>
            <a:ext cx="12658725" cy="46166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r" rtl="1">
              <a:defRPr/>
            </a:pPr>
            <a:r>
              <a:rPr lang="fr-FR" altLang="en-US" sz="24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   </a:t>
            </a:r>
            <a:r>
              <a:rPr lang="ar-DZ" altLang="en-US" sz="24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التقصي</a:t>
            </a:r>
            <a:endParaRPr lang="ar-DZ" altLang="en-US" sz="2400" b="1" dirty="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1600200"/>
            <a:ext cx="7758784" cy="4576763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11" name="Rounded Rectangle 10"/>
          <p:cNvSpPr/>
          <p:nvPr/>
        </p:nvSpPr>
        <p:spPr>
          <a:xfrm rot="925405">
            <a:off x="873388" y="1196117"/>
            <a:ext cx="996950" cy="428625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extBox 17"/>
          <p:cNvSpPr txBox="1">
            <a:spLocks noChangeArrowheads="1"/>
          </p:cNvSpPr>
          <p:nvPr/>
        </p:nvSpPr>
        <p:spPr bwMode="auto">
          <a:xfrm rot="128831">
            <a:off x="921013" y="1231042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1800" b="1" dirty="0">
                <a:cs typeface="Calibri" panose="020F0502020204030204" pitchFamily="34" charset="0"/>
              </a:rPr>
              <a:t>الوثيقة </a:t>
            </a:r>
            <a:r>
              <a:rPr lang="fr-FR" altLang="en-US" sz="1800" b="1" dirty="0" smtClean="0">
                <a:cs typeface="Calibri" panose="020F0502020204030204" pitchFamily="34" charset="0"/>
              </a:rPr>
              <a:t>1</a:t>
            </a:r>
            <a:endParaRPr lang="en-US" altLang="en-US" sz="1800" b="1" dirty="0"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59800" y="2457420"/>
            <a:ext cx="3390900" cy="286232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 algn="just" rtl="1">
              <a:spcAft>
                <a:spcPts val="0"/>
              </a:spcAft>
              <a:buFont typeface="+mj-lt"/>
              <a:buAutoNum type="arabicPeriod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لاحظ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الوثيقة  ثم 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تعرف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على المراكز البصلية التي تتحكم في تنظيم النشاطين القلبي و التنفسي.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 rtl="1">
              <a:spcAft>
                <a:spcPts val="0"/>
              </a:spcAft>
              <a:buFont typeface="+mj-lt"/>
              <a:buAutoNum type="arabicPeriod"/>
              <a:tabLst>
                <a:tab pos="2970530" algn="l"/>
              </a:tabLst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حدد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طرق الاتصال بين هذه المراكز و </a:t>
            </a:r>
            <a:r>
              <a:rPr lang="ar-DZ" sz="200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القلب ، العضلات 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البيضلعية و عضلة حجاب الحاجز.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 rtl="1">
              <a:spcAft>
                <a:spcPts val="0"/>
              </a:spcAft>
              <a:buFont typeface="+mj-lt"/>
              <a:buAutoNum type="arabicPeriod"/>
            </a:pPr>
            <a:r>
              <a:rPr lang="ar-DZ" sz="20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ما هو</a:t>
            </a:r>
            <a:r>
              <a:rPr lang="ar-DZ" sz="2000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دور البصلة السيسائية في التنسيق الوظيفي بين الأعضاء؟</a:t>
            </a:r>
            <a:endParaRPr lang="en-US" sz="20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 rtl="1">
              <a:spcAft>
                <a:spcPts val="0"/>
              </a:spcAft>
              <a:buFont typeface="+mj-lt"/>
              <a:buAutoNum type="arabicPeriod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استخلص </a:t>
            </a:r>
            <a:r>
              <a:rPr lang="ar-DZ" sz="2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مفهوم الادماج العصبي.</a:t>
            </a:r>
            <a:endParaRPr lang="en-US" sz="20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74024" y="1852364"/>
            <a:ext cx="2376676" cy="5270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1"/>
          <p:cNvSpPr/>
          <p:nvPr/>
        </p:nvSpPr>
        <p:spPr>
          <a:xfrm>
            <a:off x="8842293" y="1899061"/>
            <a:ext cx="402498" cy="44067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" name="ZoneTexte 12"/>
          <p:cNvSpPr txBox="1">
            <a:spLocks noChangeArrowheads="1"/>
          </p:cNvSpPr>
          <p:nvPr/>
        </p:nvSpPr>
        <p:spPr bwMode="auto">
          <a:xfrm>
            <a:off x="10591800" y="1898039"/>
            <a:ext cx="113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المطلوب</a:t>
            </a:r>
            <a:endParaRPr lang="fr-FR" altLang="en-US" sz="2400" b="1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pic>
        <p:nvPicPr>
          <p:cNvPr id="17" name="Image 13"/>
          <p:cNvPicPr>
            <a:picLocks noChangeAspect="1"/>
          </p:cNvPicPr>
          <p:nvPr/>
        </p:nvPicPr>
        <p:blipFill>
          <a:blip r:embed="rId4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9561" y="1994956"/>
            <a:ext cx="207963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6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" grpId="0"/>
      <p:bldP spid="11" grpId="0" animBg="1"/>
      <p:bldP spid="12" grpId="0"/>
      <p:bldP spid="8" grpId="0" animBg="1"/>
      <p:bldP spid="9" grpId="0" animBg="1"/>
      <p:bldP spid="15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0960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rtl="1">
              <a:spcAft>
                <a:spcPts val="0"/>
              </a:spcAft>
              <a:buFont typeface="+mj-lt"/>
              <a:buAutoNum type="arabicPeriod"/>
            </a:pPr>
            <a:r>
              <a:rPr lang="ar-DZ" sz="20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المراكز العصبية التي تتحكم في تنظيم النشاطين القلبي و التنفسي :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SzPts val="1200"/>
              <a:buFont typeface="Wingdings" panose="05000000000000000000" pitchFamily="2" charset="2"/>
              <a:buChar char="v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المركز المسرع لضربات القلب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CCA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SzPts val="1200"/>
              <a:buFont typeface="Wingdings" panose="05000000000000000000" pitchFamily="2" charset="2"/>
              <a:buChar char="v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المركز المبطئ لضربات القلب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CCF  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SzPts val="1200"/>
              <a:buFont typeface="Wingdings" panose="05000000000000000000" pitchFamily="2" charset="2"/>
              <a:buChar char="v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المركز التنفسي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 </a:t>
            </a:r>
            <a:r>
              <a:rPr lang="ar-DZ" sz="20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lvl="0" algn="r" rtl="1">
              <a:spcAft>
                <a:spcPts val="0"/>
              </a:spcAft>
              <a:buSzPts val="1200"/>
            </a:pP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</a:pPr>
            <a:r>
              <a:rPr lang="ar-DZ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2.   طرق </a:t>
            </a:r>
            <a:r>
              <a:rPr lang="ar-DZ" sz="20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الاتصال بين المراكز البصلية و العضلات: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SzPts val="1200"/>
              <a:buFont typeface="Wingdings" panose="05000000000000000000" pitchFamily="2" charset="2"/>
              <a:buChar char="v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أعصاب و دية وقرب ودية بالنسبة للقلب.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r" rtl="1">
              <a:spcAft>
                <a:spcPts val="0"/>
              </a:spcAft>
              <a:buSzPts val="1200"/>
              <a:buFont typeface="Wingdings" panose="05000000000000000000" pitchFamily="2" charset="2"/>
              <a:buChar char="v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أعصاب تنفسية بالنسبة للعضلات البيضلعية و الحجاب الحاجز.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</a:pPr>
            <a:r>
              <a:rPr lang="ar-DZ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3.   دور </a:t>
            </a:r>
            <a:r>
              <a:rPr lang="ar-DZ" sz="20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البصلة السيسائية في التنسيق الوظيفي بين الأعضاء :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  <a:buSzPts val="1200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يسبب النشاط العضلي استهلاك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</a:t>
            </a:r>
            <a:r>
              <a:rPr lang="fr-FR" sz="2000" b="1" baseline="-25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وطرح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</a:t>
            </a:r>
            <a:r>
              <a:rPr lang="fr-FR" sz="2000" b="1" baseline="-25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الى تنبيه المركز التنفسي في البصلة السيسائية (المركز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) و يستجيب برفع وتيرة الحركات التنفسية و يحدث نفس </a:t>
            </a:r>
            <a:r>
              <a:rPr lang="ar-DZ" sz="20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الشيء 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مع المركز المسرع لنبضات القلب فينتج عن ذلك زيادة في تركيز الـ 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</a:t>
            </a:r>
            <a:r>
              <a:rPr lang="fr-FR" sz="2000" b="1" baseline="-25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lang="fr-FR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 </a:t>
            </a: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لتلبية حاجات العضوية </a:t>
            </a:r>
            <a:r>
              <a:rPr lang="ar-DZ" sz="20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بالأكسجين.</a:t>
            </a:r>
          </a:p>
          <a:p>
            <a:pPr lvl="0" algn="r" rtl="1">
              <a:spcAft>
                <a:spcPts val="0"/>
              </a:spcAft>
              <a:buSzPts val="1200"/>
            </a:pP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</a:pPr>
            <a:r>
              <a:rPr lang="ar-DZ" sz="2000" b="1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4.   مفهوم </a:t>
            </a:r>
            <a:r>
              <a:rPr lang="ar-DZ" sz="2000" b="1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الادماج العصبي :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  <a:buSzPts val="1200"/>
            </a:pPr>
            <a:r>
              <a:rPr lang="ar-DZ" sz="2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هو تنسيق نشاطات عدة اعضاء يقوم بها الجهاز العصبي لغرض تحقيق وظيفة متكيفة و منسجمة مع حاجات العضوية.</a:t>
            </a:r>
            <a:endParaRPr lang="en-US" sz="20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lvl="0" algn="r" rtl="1">
              <a:spcAft>
                <a:spcPts val="0"/>
              </a:spcAft>
              <a:buSzPts val="1200"/>
            </a:pPr>
            <a:endParaRPr lang="en-US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899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/>
          <p:cNvSpPr/>
          <p:nvPr/>
        </p:nvSpPr>
        <p:spPr>
          <a:xfrm>
            <a:off x="1468215" y="2729181"/>
            <a:ext cx="1032822" cy="114043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33355" y="1000087"/>
            <a:ext cx="113966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indent="0" algn="r" rtl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SzPts val="1200"/>
              <a:buNone/>
            </a:pPr>
            <a:r>
              <a:rPr lang="ar-DZ" altLang="en-US" sz="24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تدمج </a:t>
            </a:r>
            <a:r>
              <a:rPr lang="ar-DZ" altLang="en-US" sz="2400" b="1" dirty="0">
                <a:ea typeface="Times New Roman" panose="02020603050405020304" pitchFamily="18" charset="0"/>
                <a:cs typeface="Calibri" panose="020F0502020204030204" pitchFamily="34" charset="0"/>
              </a:rPr>
              <a:t>المعلومات الواردة إلى البصلة السيسائية(نقص</a:t>
            </a:r>
            <a:r>
              <a:rPr lang="en-US" altLang="en-US" sz="2400" b="1" dirty="0">
                <a:ea typeface="Times New Roman" panose="02020603050405020304" pitchFamily="18" charset="0"/>
                <a:cs typeface="Calibri" panose="020F0502020204030204" pitchFamily="34" charset="0"/>
              </a:rPr>
              <a:t>CO2 </a:t>
            </a:r>
            <a:r>
              <a:rPr lang="ar-DZ" altLang="en-US" sz="2400" b="1" dirty="0" smtClean="0">
                <a:ea typeface="Times New Roman" panose="02020603050405020304" pitchFamily="18" charset="0"/>
                <a:cs typeface="Calibri" panose="020F0502020204030204" pitchFamily="34" charset="0"/>
              </a:rPr>
              <a:t> ) و </a:t>
            </a:r>
            <a:r>
              <a:rPr lang="ar-DZ" altLang="en-US" sz="2400" b="1" dirty="0">
                <a:ea typeface="Times New Roman" panose="02020603050405020304" pitchFamily="18" charset="0"/>
                <a:cs typeface="Calibri" panose="020F0502020204030204" pitchFamily="34" charset="0"/>
              </a:rPr>
              <a:t>يسمح ذلك بالتنسيق الوظيفي بين الأعضاء.</a:t>
            </a:r>
            <a:endParaRPr lang="ar-DZ" altLang="en-US" sz="2400" b="1" dirty="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209003" y="208746"/>
            <a:ext cx="13033375" cy="460375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  <a:prstDash val="dash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000" b="1" dirty="0">
              <a:solidFill>
                <a:schemeClr val="tx1"/>
              </a:solidFill>
              <a:cs typeface="Calibri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0130432" y="240525"/>
            <a:ext cx="10969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SA" altLang="en-US" sz="2400" b="1" dirty="0">
                <a:ea typeface="Times New Roman" panose="02020603050405020304" pitchFamily="18" charset="0"/>
                <a:cs typeface="Calibri" panose="020F0502020204030204" pitchFamily="34" charset="0"/>
              </a:rPr>
              <a:t>الخلاصة</a:t>
            </a:r>
            <a:endParaRPr lang="en-US" altLang="en-US" sz="1800" b="1" dirty="0"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343146" y="90588"/>
            <a:ext cx="727075" cy="7223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1902" y="17357"/>
            <a:ext cx="868658" cy="868658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221" y="1862057"/>
            <a:ext cx="13477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1062237" y="2985980"/>
            <a:ext cx="989012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rt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ar-DZ" altLang="en-US" sz="2400" b="1">
                <a:cs typeface="Calibri" panose="020F0502020204030204" pitchFamily="34" charset="0"/>
              </a:rPr>
              <a:t>تقويم</a:t>
            </a:r>
            <a:endParaRPr lang="en-US" altLang="en-US" sz="2400" b="1">
              <a:cs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66734" y="1905366"/>
            <a:ext cx="34967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4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إذا علمت أن تنبيه المركز المسرع لضربات القلب في البصلة السيسائية له نفس تأثير تنبيه العصب الودي المتصل به، اقترح مخططا بسيطا توضح فيه العلاقة بين العناصر التالية</a:t>
            </a:r>
            <a:r>
              <a:rPr lang="ar-DZ" sz="24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:</a:t>
            </a:r>
            <a:endParaRPr lang="en-US" sz="2400" b="1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63047" y="2340824"/>
            <a:ext cx="2286000" cy="85219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4537228" y="3372858"/>
            <a:ext cx="779462" cy="85219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/>
          <p:cNvSpPr/>
          <p:nvPr/>
        </p:nvSpPr>
        <p:spPr>
          <a:xfrm>
            <a:off x="5528223" y="3376521"/>
            <a:ext cx="779462" cy="852194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triped Right Arrow 15"/>
          <p:cNvSpPr/>
          <p:nvPr/>
        </p:nvSpPr>
        <p:spPr>
          <a:xfrm rot="5400000">
            <a:off x="4865107" y="4575334"/>
            <a:ext cx="1081879" cy="838200"/>
          </a:xfrm>
          <a:prstGeom prst="stripedRightArrow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3647844" y="5605249"/>
            <a:ext cx="3414574" cy="685800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b="1" dirty="0" smtClean="0"/>
              <a:t>تركيز </a:t>
            </a:r>
            <a:r>
              <a:rPr lang="fr-FR" b="1" dirty="0" smtClean="0"/>
              <a:t>O2</a:t>
            </a:r>
            <a:r>
              <a:rPr lang="ar-DZ" b="1" dirty="0" smtClean="0"/>
              <a:t> منخفض و تركيز </a:t>
            </a:r>
            <a:r>
              <a:rPr lang="fr-FR" b="1" dirty="0" smtClean="0"/>
              <a:t>CO2 </a:t>
            </a:r>
            <a:r>
              <a:rPr lang="ar-DZ" b="1" dirty="0" smtClean="0"/>
              <a:t> مرتفع </a:t>
            </a:r>
            <a:endParaRPr lang="en-US" b="1" dirty="0"/>
          </a:p>
        </p:txBody>
      </p:sp>
      <p:sp>
        <p:nvSpPr>
          <p:cNvPr id="18" name="Striped Right Arrow 17"/>
          <p:cNvSpPr/>
          <p:nvPr/>
        </p:nvSpPr>
        <p:spPr>
          <a:xfrm rot="10800000">
            <a:off x="2895048" y="5675079"/>
            <a:ext cx="665954" cy="571500"/>
          </a:xfrm>
          <a:prstGeom prst="stripedRightArrow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21407" y="5410200"/>
            <a:ext cx="2703118" cy="913696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riped Right Arrow 19"/>
          <p:cNvSpPr/>
          <p:nvPr/>
        </p:nvSpPr>
        <p:spPr>
          <a:xfrm rot="16200000">
            <a:off x="1285759" y="4301936"/>
            <a:ext cx="1406855" cy="571500"/>
          </a:xfrm>
          <a:prstGeom prst="stripedRightArrow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954711" y="2082796"/>
            <a:ext cx="2197038" cy="52208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2400" b="1" dirty="0" smtClean="0"/>
              <a:t>زيادة الوتيرة القلبية</a:t>
            </a:r>
            <a:endParaRPr lang="en-US" sz="24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935814" y="5155587"/>
            <a:ext cx="724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DZ" sz="2800" b="1" dirty="0" smtClean="0"/>
              <a:t>تنبيه</a:t>
            </a:r>
            <a:endParaRPr lang="en-US" sz="2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2274937" y="3680774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DZ" sz="2800" b="1" dirty="0" smtClean="0"/>
              <a:t>تنشيط</a:t>
            </a:r>
            <a:endParaRPr lang="en-US" sz="2800" b="1" dirty="0"/>
          </a:p>
        </p:txBody>
      </p:sp>
      <p:sp>
        <p:nvSpPr>
          <p:cNvPr id="25" name="Rectangle 24"/>
          <p:cNvSpPr/>
          <p:nvPr/>
        </p:nvSpPr>
        <p:spPr>
          <a:xfrm>
            <a:off x="121406" y="4478930"/>
            <a:ext cx="1633783" cy="67665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5917954" y="2802017"/>
            <a:ext cx="0" cy="7720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4905466" y="2841949"/>
            <a:ext cx="21493" cy="8388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760497" y="2499132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1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850394" y="3948839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5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1564357" y="6382891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4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6593380" y="5085397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3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6470484" y="3560994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2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121406" y="2089866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7</a:t>
            </a:r>
            <a:endParaRPr lang="en-US" dirty="0"/>
          </a:p>
        </p:txBody>
      </p:sp>
      <p:sp>
        <p:nvSpPr>
          <p:cNvPr id="37" name="Oval 36"/>
          <p:cNvSpPr/>
          <p:nvPr/>
        </p:nvSpPr>
        <p:spPr>
          <a:xfrm>
            <a:off x="984303" y="3098002"/>
            <a:ext cx="381663" cy="4260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r-DZ" dirty="0" smtClean="0"/>
              <a:t>6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9624531" y="4900472"/>
            <a:ext cx="20313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زيادة النشاط العضلي </a:t>
            </a:r>
            <a:endParaRPr lang="en-US" sz="2000" dirty="0"/>
          </a:p>
        </p:txBody>
      </p:sp>
      <p:sp>
        <p:nvSpPr>
          <p:cNvPr id="39" name="Rectangle 38"/>
          <p:cNvSpPr/>
          <p:nvPr/>
        </p:nvSpPr>
        <p:spPr>
          <a:xfrm>
            <a:off x="10835003" y="4415428"/>
            <a:ext cx="7601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القلب </a:t>
            </a:r>
            <a:endParaRPr lang="en-US" sz="2000" dirty="0"/>
          </a:p>
        </p:txBody>
      </p:sp>
      <p:sp>
        <p:nvSpPr>
          <p:cNvPr id="40" name="Rectangle 39"/>
          <p:cNvSpPr/>
          <p:nvPr/>
        </p:nvSpPr>
        <p:spPr>
          <a:xfrm>
            <a:off x="10143590" y="5410038"/>
            <a:ext cx="14718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العصب الودي </a:t>
            </a:r>
            <a:endParaRPr lang="en-US" sz="2000" dirty="0"/>
          </a:p>
        </p:txBody>
      </p:sp>
      <p:sp>
        <p:nvSpPr>
          <p:cNvPr id="41" name="Rectangle 40"/>
          <p:cNvSpPr/>
          <p:nvPr/>
        </p:nvSpPr>
        <p:spPr>
          <a:xfrm>
            <a:off x="8943586" y="5870560"/>
            <a:ext cx="27334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المركز المسرّع لضربات القلب </a:t>
            </a:r>
            <a:endParaRPr lang="en-US" sz="2000" dirty="0"/>
          </a:p>
        </p:txBody>
      </p:sp>
      <p:sp>
        <p:nvSpPr>
          <p:cNvPr id="42" name="Rectangle 41"/>
          <p:cNvSpPr/>
          <p:nvPr/>
        </p:nvSpPr>
        <p:spPr>
          <a:xfrm>
            <a:off x="11150795" y="6319954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</a:t>
            </a:r>
            <a:r>
              <a:rPr lang="fr-FR" sz="2000" b="1" baseline="-25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endParaRPr lang="en-US" sz="2000" dirty="0"/>
          </a:p>
        </p:txBody>
      </p:sp>
      <p:sp>
        <p:nvSpPr>
          <p:cNvPr id="43" name="Rectangle 42"/>
          <p:cNvSpPr/>
          <p:nvPr/>
        </p:nvSpPr>
        <p:spPr>
          <a:xfrm>
            <a:off x="10500012" y="6331082"/>
            <a:ext cx="5787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</a:t>
            </a:r>
            <a:r>
              <a:rPr lang="fr-FR" sz="2000" b="1" baseline="-250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2</a:t>
            </a:r>
            <a:endParaRPr lang="en-US" sz="2000" dirty="0"/>
          </a:p>
        </p:txBody>
      </p:sp>
      <p:cxnSp>
        <p:nvCxnSpPr>
          <p:cNvPr id="45" name="Straight Connector 44"/>
          <p:cNvCxnSpPr/>
          <p:nvPr/>
        </p:nvCxnSpPr>
        <p:spPr>
          <a:xfrm>
            <a:off x="-209003" y="1752600"/>
            <a:ext cx="128778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02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022E-16 L -0.43334 -0.36412 " pathEditMode="relative" rAng="0" ptsTypes="AA">
                                      <p:cBhvr>
                                        <p:cTn id="21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67" y="-18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4.44444E-6 L -0.44739 -0.39236 " pathEditMode="relative" rAng="0" ptsTypes="AA">
                                      <p:cBhvr>
                                        <p:cTn id="22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70" y="-1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47969 -0.38796 " pathEditMode="relative" rAng="0" ptsTypes="AA">
                                      <p:cBhvr>
                                        <p:cTn id="227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84" y="-1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4.81481E-6 L -0.72526 -0.01598 " pathEditMode="relative" rAng="0" ptsTypes="AA">
                                      <p:cBhvr>
                                        <p:cTn id="23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63" y="-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4.44444E-6 L -0.81406 -0.1132 " pathEditMode="relative" rAng="0" ptsTypes="AA">
                                      <p:cBhvr>
                                        <p:cTn id="23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703" y="-5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3.33333E-6 L -0.7595 -0.19491 " pathEditMode="relative" rAng="0" ptsTypes="AA">
                                      <p:cBhvr>
                                        <p:cTn id="23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982" y="-9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5" grpId="0" animBg="1"/>
      <p:bldP spid="6" grpId="0"/>
      <p:bldP spid="7" grpId="0" animBg="1"/>
      <p:bldP spid="10" grpId="0" animBg="1"/>
      <p:bldP spid="11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/>
      <p:bldP spid="24" grpId="0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274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Drisso</dc:creator>
  <cp:lastModifiedBy>Drisso</cp:lastModifiedBy>
  <cp:revision>20</cp:revision>
  <dcterms:created xsi:type="dcterms:W3CDTF">2006-08-16T00:00:00Z</dcterms:created>
  <dcterms:modified xsi:type="dcterms:W3CDTF">2019-04-23T18:40:20Z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431399</vt:lpwstr>
  </property>
  <property fmtid="{D5CDD505-2E9C-101B-9397-08002B2CF9AE}" name="NXPowerLiteSettings" pid="3">
    <vt:lpwstr>C700052003A000</vt:lpwstr>
  </property>
  <property fmtid="{D5CDD505-2E9C-101B-9397-08002B2CF9AE}" name="NXPowerLiteVersion" pid="4">
    <vt:lpwstr>D8.0.4</vt:lpwstr>
  </property>
</Properties>
</file>